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7315200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智链经营助手 × 徐记海鲜</a:t>
            </a:r>
          </a:p>
          <a:p>
            <a:pPr>
              <a:defRPr sz="2800" b="0">
                <a:solidFill>
                  <a:srgbClr val="FF6B2C"/>
                </a:solidFill>
              </a:defRPr>
            </a:pPr>
            <a:r>
              <a:t>POC验证报告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AI驱动的连锁餐饮经营决策系统</a:t>
            </a:r>
          </a:p>
          <a:p>
            <a:pPr>
              <a:defRPr sz="1200" b="0">
                <a:solidFill>
                  <a:srgbClr val="666666"/>
                </a:solidFill>
              </a:defRPr>
            </a:pPr>
            <a:r>
              <a:t>屯象科技  |  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徐记海鲜 — 企业画像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品牌：徐记海鲜（2018年创立，长沙总部）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规模：5家门店（长沙3 + 株洲1 + 湘潭1）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年营收：~¥8,000万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旗舰店：五一广场店（800㎡，45人，日均¥6-8万）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8229600" cy="201168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6B2C"/>
                </a:solidFill>
              </a:defRPr>
            </a:pPr>
            <a:r>
              <a:t>核心痛点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⚠ 食材成本率偏高：行业28-33%，徐记实际~35%（差距7个点）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⚠ 人力排班低效：凭经验排班，高峰缺人/低谷冗余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⚠ 跨店管理不透明：5店数据割裂，总部无法实时对标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核心价值主张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2C"/>
                </a:solidFill>
              </a:defRPr>
            </a:pPr>
            <a:r>
              <a:t>帮每家连锁店每年多赚 ¥30万+</a:t>
            </a:r>
          </a:p>
          <a:p>
            <a:pPr>
              <a:defRPr sz="1600" b="0">
                <a:solidFill>
                  <a:srgbClr val="666666"/>
                </a:solidFill>
              </a:defRPr>
            </a:pPr>
            <a:r>
              <a:t>成本率降低2个点 → 年均节省¥30万+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560320" cy="274320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一个助手</a:t>
            </a:r>
          </a:p>
          <a:p>
            <a:pPr algn="ctr">
              <a:defRPr sz="1400">
                <a:solidFill>
                  <a:srgbClr val="FF6B2C"/>
                </a:solidFill>
              </a:defRPr>
            </a:pPr>
            <a:r>
              <a:t>企业微信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4时间点智能推送</a:t>
            </a:r>
            <a:br/>
            <a:r>
              <a:t>一键确认决策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3200400"/>
            <a:ext cx="2560320" cy="2743200"/>
          </a:xfrm>
          <a:prstGeom prst="roundRect">
            <a:avLst/>
          </a:prstGeom>
          <a:solidFill>
            <a:srgbClr val="FF6B2C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一个看板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BFF聚合</a:t>
            </a:r>
          </a:p>
          <a:p>
            <a:pPr algn="ctr">
              <a:defRPr sz="1100">
                <a:solidFill>
                  <a:srgbClr val="FFDDCC"/>
                </a:solidFill>
              </a:defRPr>
            </a:pPr>
            <a:r>
              <a:t>30秒刷新</a:t>
            </a:r>
            <a:br/>
            <a:r>
              <a:t>4角色定制视图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200400"/>
            <a:ext cx="2560320" cy="274320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一套大脑</a:t>
            </a:r>
          </a:p>
          <a:p>
            <a:pPr algn="ctr">
              <a:defRPr sz="1400">
                <a:solidFill>
                  <a:srgbClr val="FF6B2C"/>
                </a:solidFill>
              </a:defRPr>
            </a:pPr>
            <a:r>
              <a:t>11 AI Agent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三级降级</a:t>
            </a:r>
            <a:br/>
            <a:r>
              <a:t>自动学习进化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</a:defRPr>
            </a:pPr>
            <a:r>
              <a:t>北极星指标：续费率 ≥ 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四层 Ontology 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731520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感知层 Perception</a:t>
            </a:r>
          </a:p>
          <a:p>
            <a:pPr algn="ctr">
              <a:defRPr sz="1200">
                <a:solidFill>
                  <a:srgbClr val="FFFFEE"/>
                </a:solidFill>
              </a:defRPr>
            </a:pPr>
            <a:r>
              <a:t>企微 / 天财商龙POS / 飞书 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</a:defRPr>
            </a:pPr>
            <a: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7315200" cy="10058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本体层 Ontology</a:t>
            </a:r>
          </a:p>
          <a:p>
            <a:pPr algn="ctr">
              <a:defRPr sz="1200">
                <a:solidFill>
                  <a:srgbClr val="FFFFEE"/>
                </a:solidFill>
              </a:defRPr>
            </a:pPr>
            <a:r>
              <a:t>62个数据模型，97个 Alembic 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7315200" cy="1005840"/>
          </a:xfrm>
          <a:prstGeom prst="round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推理层 Reasoning</a:t>
            </a:r>
          </a:p>
          <a:p>
            <a:pPr algn="ctr">
              <a:defRPr sz="1200">
                <a:solidFill>
                  <a:srgbClr val="FFFFEE"/>
                </a:solidFill>
              </a:defRPr>
            </a:pPr>
            <a:r>
              <a:t>11个 AI Agent，三级降级策略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7548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199"/>
            <a:ext cx="7315200" cy="10058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行动层 Action</a:t>
            </a:r>
          </a:p>
          <a:p>
            <a:pPr algn="ctr">
              <a:defRPr sz="1200">
                <a:solidFill>
                  <a:srgbClr val="FFFFEE"/>
                </a:solidFill>
              </a:defRPr>
            </a:pPr>
            <a:r>
              <a:t>企微推送 + 一键确认 + FSM 状态机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2C"/>
                </a:solidFill>
              </a:defRPr>
            </a:pPr>
            <a:r>
              <a:t>11个Agent × 4个决策窗口 × 30秒BFF刷新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10个MVP功能 — 全部就绪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657600"/>
                <a:gridCol w="9144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功能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¥价值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POS数据自动采集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日省1小时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每日利润快报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实时经营状况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损耗Top5排名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年省¥5-10万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决策型企微推送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4时间点精准推送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一键审批采购建议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采购效率+30%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BOM配方管理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标准化成本核算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成本率趋势图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预警前置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异常告警推送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≤30min触达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月度经营报告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一键生成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离线基础查询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7AE6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断网不停服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食材成本分析 — 核心卖点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645920"/>
          </a:xfrm>
          <a:prstGeom prst="roundRect">
            <a:avLst/>
          </a:prstGeom>
          <a:solidFill>
            <a:srgbClr val="FEF5F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理论成本率</a:t>
            </a:r>
          </a:p>
          <a:p>
            <a:pPr algn="ctr">
              <a:defRPr sz="3200" b="1">
                <a:solidFill>
                  <a:srgbClr val="27AE60"/>
                </a:solidFill>
              </a:defRPr>
            </a:pPr>
            <a:r>
              <a:t>28%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(BOM标准)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188720"/>
            <a:ext cx="2560320" cy="1645920"/>
          </a:xfrm>
          <a:prstGeom prst="roundRect">
            <a:avLst/>
          </a:prstGeom>
          <a:solidFill>
            <a:srgbClr val="FEF5F0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实际成本率</a:t>
            </a:r>
          </a:p>
          <a:p>
            <a:pPr algn="ctr">
              <a:defRPr sz="3200" b="1">
                <a:solidFill>
                  <a:srgbClr val="E74C3C"/>
                </a:solidFill>
              </a:defRPr>
            </a:pPr>
            <a:r>
              <a:t>35%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(采购+损耗)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2560320" cy="164592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差异</a:t>
            </a:r>
          </a:p>
          <a:p>
            <a:pPr algn="ctr">
              <a:defRPr sz="3200" b="1">
                <a:solidFill>
                  <a:srgbClr val="FF6B2C"/>
                </a:solidFill>
              </a:defRPr>
            </a:pPr>
            <a:r>
              <a:t>7个点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年损失¥56万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BOM管理闭环：配方录入 → 成本计算 → 差异分析 → 决策建议 → 一键采购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2C"/>
                </a:solidFill>
              </a:defRPr>
            </a:pPr>
            <a:r>
              <a:t>Top5成本偏差食材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• 海鲜类：虾、蟹、鱼 — 供应商价格波动大，占总成本60%+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• 酱料类：定制酱料 — 配比不标准，各店差异达20%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• 蔬菜类：时令蔬菜 — 损耗率高达15-25%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门店健康指数 — 5维评估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87680">
                <a:tc>
                  <a:txBody>
                    <a:bodyPr/>
                    <a:lstStyle/>
                    <a:p>
                      <a:r>
                        <a:t>维度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权重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计算方式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五一店模拟分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营收完成率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实际/目标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翻台率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实际/2.0标准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成本率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FoodCost方差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</a:defRPr>
                      </a:pPr>
                      <a:r>
                        <a:t>60 ⚠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投诉率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质检不合格/总数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员工效率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人均产值/¥500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286000" y="4572000"/>
            <a:ext cx="4572000" cy="164592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6B2C"/>
                </a:solidFill>
              </a:defRPr>
            </a:pPr>
            <a:r>
              <a:t>综合分数：76.1 / 100 → "良好"</a:t>
            </a:r>
          </a:p>
          <a:p>
            <a:pPr algn="ctr">
              <a:defRPr sz="1300">
                <a:solidFill>
                  <a:srgbClr val="1A1A2E"/>
                </a:solidFill>
              </a:defRPr>
            </a:pPr>
            <a:r>
              <a:t>关键洞察：成本率是最大短板（仅60分），优化空间最大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智能决策引擎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2C"/>
                </a:solidFill>
              </a:defRPr>
            </a:pPr>
            <a:r>
              <a:t>得分 = 0.40×财务影响 + 0.30×紧急程度 + 0.20×置信度 + 0.10×执行难度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377440"/>
            <a:ext cx="2011680" cy="146304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6B2C"/>
                </a:solidFill>
              </a:defRPr>
            </a:pPr>
            <a:r>
              <a:t>08:00</a:t>
            </a:r>
          </a:p>
          <a:p>
            <a:pPr algn="ctr">
              <a:defRPr sz="1400">
                <a:solidFill>
                  <a:srgbClr val="1A1A2E"/>
                </a:solidFill>
              </a:defRPr>
            </a:pPr>
            <a:r>
              <a:t>晨推</a:t>
            </a:r>
          </a:p>
          <a:p>
            <a:pPr algn="ctr">
              <a:defRPr sz="1000">
                <a:solidFill>
                  <a:srgbClr val="666666"/>
                </a:solidFill>
              </a:defRPr>
            </a:pPr>
            <a:r>
              <a:t>今日采购建议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377440"/>
            <a:ext cx="2011680" cy="146304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6B2C"/>
                </a:solidFill>
              </a:defRPr>
            </a:pPr>
            <a:r>
              <a:t>12:00</a:t>
            </a:r>
          </a:p>
          <a:p>
            <a:pPr algn="ctr">
              <a:defRPr sz="1400">
                <a:solidFill>
                  <a:srgbClr val="1A1A2E"/>
                </a:solidFill>
              </a:defRPr>
            </a:pPr>
            <a:r>
              <a:t>午推</a:t>
            </a:r>
          </a:p>
          <a:p>
            <a:pPr algn="ctr">
              <a:defRPr sz="1000">
                <a:solidFill>
                  <a:srgbClr val="666666"/>
                </a:solidFill>
              </a:defRPr>
            </a:pPr>
            <a:r>
              <a:t>午市实时调整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377440"/>
            <a:ext cx="2011680" cy="1463040"/>
          </a:xfrm>
          <a:prstGeom prst="roundRect">
            <a:avLst/>
          </a:prstGeom>
          <a:solidFill>
            <a:srgbClr val="FF6B2C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17:30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战前</a:t>
            </a:r>
          </a:p>
          <a:p>
            <a:pPr algn="ctr">
              <a:defRPr sz="1000">
                <a:solidFill>
                  <a:srgbClr val="FFDDCC"/>
                </a:solidFill>
              </a:defRPr>
            </a:pPr>
            <a:r>
              <a:t>晚市备货/排班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2377440"/>
            <a:ext cx="2011680" cy="146304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6B2C"/>
                </a:solidFill>
              </a:defRPr>
            </a:pPr>
            <a:r>
              <a:t>20:30</a:t>
            </a:r>
          </a:p>
          <a:p>
            <a:pPr algn="ctr">
              <a:defRPr sz="1400">
                <a:solidFill>
                  <a:srgbClr val="1A1A2E"/>
                </a:solidFill>
              </a:defRPr>
            </a:pPr>
            <a:r>
              <a:t>晚推</a:t>
            </a:r>
          </a:p>
          <a:p>
            <a:pPr algn="ctr">
              <a:defRPr sz="1000">
                <a:solidFill>
                  <a:srgbClr val="666666"/>
                </a:solidFill>
              </a:defRPr>
            </a:pPr>
            <a:r>
              <a:t>当日复盘/次日预警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8229600" cy="201168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2C"/>
                </a:solidFill>
              </a:defRPr>
            </a:pPr>
            <a:r>
              <a:t>决策推送样例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"建议减少明日虾采购量20%（库存充足），预期节省¥340，置信度82%"</a:t>
            </a:r>
          </a:p>
          <a:p>
            <a:pPr>
              <a:defRPr sz="1200" b="1">
                <a:solidFill>
                  <a:srgbClr val="FF6B2C"/>
                </a:solidFill>
              </a:defRPr>
            </a:pPr>
            <a:r>
              <a:t>  [一键确认]    [查看详情]    [忽略]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企业微信集成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2C"/>
                </a:solidFill>
              </a:defRPr>
            </a:pPr>
            <a:r>
              <a:t>4种消息模板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• 折扣审批：金额+操作人+订单号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• 异常告警：类型+严重度+描述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• 班次报告：营收+单数+客流+客单价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• 需求预测：预测营收+置信度+依据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2C"/>
                </a:solidFill>
              </a:defRPr>
            </a:pPr>
            <a:r>
              <a:t>行动状态机（FSM）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创建 → 推送 → 确认 → 处理中 → 已解决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8229600" cy="1645920"/>
          </a:xfrm>
          <a:prstGeom prst="roundRect">
            <a:avLst/>
          </a:prstGeom>
          <a:solidFill>
            <a:srgbClr val="FEF5F0"/>
          </a:solidFill>
          <a:ln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2C"/>
                </a:solidFill>
              </a:defRPr>
            </a:pPr>
            <a:r>
              <a:t>自动升级机制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P0（紧急）：30分钟无响应 → 自动升级到店长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P1（高）  ：2小时无响应 → 升级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P2（中）  ：24小时无响应 → 升级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P3（低）  ：3天无响应 → 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需求预测 — 三级降级策略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数据天数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置信度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基础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&lt; 14天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规则引擎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行业基准¥3000/天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14-60天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统计模型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加权移动平均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≥ 60天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Prophet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时间序列预测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2C"/>
                </a:solidFill>
              </a:defRPr>
            </a:pPr>
            <a:r>
              <a:t>POC启动策略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前2周：规则引擎自动启动（无需历史数据）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第3-8周：积累数据后自动切换统计模型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第2月后：数据充足时切换 Prophet ML</a:t>
            </a:r>
          </a:p>
          <a:p>
            <a:pPr>
              <a:defRPr sz="1200">
                <a:solidFill>
                  <a:srgbClr val="1A1A2E"/>
                </a:solidFill>
              </a:defRPr>
            </a:pP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BOM联动：预测营收 → 菜品估算 → 食材用量 × (1+损耗系数)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多店对标 — HQ总部看板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t>门店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健康分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成本率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营收完成率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五一广场店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</a:defRPr>
                      </a:pPr>
                      <a:r>
                        <a:t>⚠ 成本偏高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芙蓉路店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良好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梅溪湖店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</a:defRPr>
                      </a:pPr>
                      <a:r>
                        <a:t>⚠ 营收不足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株洲店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</a:defRPr>
                      </a:pPr>
                      <a:r>
                        <a:t>⚠ 多项预警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湘潭店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良好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2C"/>
                </a:solidFill>
              </a:defRPr>
            </a:pPr>
            <a:r>
              <a:t>BFF聚合特性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• 单次请求加载全部门店数据（asyncio.gather并行）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• 30秒Redis缓存，?refresh=true强制刷新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  • 子调用失败 → 降级返回null，不阻塞整屏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POC验证 — 6大场景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r>
                        <a:t>时段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场景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验证Agent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预期效果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07:00-09:00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早晨采购与库存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采购效率+30%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11:30-13:00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午餐排班优化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排班效率+40%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12:00-12:30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点餐出餐协同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出餐速度+20%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客诉智能处理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处理时间-50%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晚市销售预测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食材损耗-15%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22:30-23:00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闭店盘点日报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人工成本-10%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¥价值量化 — 成本节省测算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r>
                        <a:t>节省来源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月均节省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年化节省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置信度</a:t>
                      </a:r>
                    </a:p>
                  </a:txBody>
                  <a:tcPr>
                    <a:solidFill>
                      <a:srgbClr val="FF6B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食材成本率降2点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损耗减少15%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人工成本降10%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¥96,000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采购议价提升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¥36,000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2C"/>
                          </a:solidFill>
                        </a:defRPr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2C"/>
                          </a:solidFill>
                        </a:defRPr>
                      </a:pPr>
                      <a:r>
                        <a:t>¥26,000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2C"/>
                          </a:solidFill>
                        </a:defRPr>
                      </a:pPr>
                      <a:r>
                        <a:t>¥312,000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2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0" y="1097280"/>
            <a:ext cx="3200400" cy="2743200"/>
          </a:xfrm>
          <a:prstGeom prst="round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ROI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&gt; 500%</a:t>
            </a:r>
          </a:p>
          <a:p>
            <a:pPr algn="ctr">
              <a:defRPr sz="1200">
                <a:solidFill>
                  <a:srgbClr val="FFDDCC"/>
                </a:solidFill>
              </a:defRPr>
            </a:pPr>
            <a:r>
              <a:t>5店保守年省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¥167万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实施路线图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18872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463040"/>
            <a:ext cx="54864" cy="777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</a:defRPr>
            </a:pPr>
            <a:r>
              <a:t>Week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数据接入 + BOM录入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里程碑: 规则引擎启动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4028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2514600"/>
            <a:ext cx="54864" cy="777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Week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488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健康指数上线 + 企微推送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里程碑: 第一条AI决策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91839"/>
            <a:ext cx="274320" cy="274320"/>
          </a:xfrm>
          <a:prstGeom prst="ellipse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" y="3566159"/>
            <a:ext cx="54864" cy="777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2C"/>
                </a:solidFill>
              </a:defRPr>
            </a:pPr>
            <a:r>
              <a:t>Week 5-6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成本分析 + 决策引擎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里程碑: 验证节省效果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343400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4128" y="4617720"/>
            <a:ext cx="54864" cy="777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5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</a:defRPr>
            </a:pPr>
            <a:r>
              <a:t>Week 7-8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519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统计模型 + 多店对标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526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里程碑: 完整POC报告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394959"/>
            <a:ext cx="274320" cy="2743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Month 3+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ML预测 + 案例积累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里程碑: 持续优化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7315200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下一步</a:t>
            </a:r>
          </a:p>
          <a:p>
            <a:pPr>
              <a:defRPr sz="2000" b="0">
                <a:solidFill>
                  <a:srgbClr val="FF6B2C"/>
                </a:solidFill>
              </a:defRPr>
            </a:pPr>
            <a:r>
              <a:t>8周内证明成本率可降 ≥ 1个点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我们需要您的支持：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1. 确认五一广场店为首批接入门店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2. 提供天财商龙POS系统接口权限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3. 指定1名店长对接人（企微接收决策推送）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4. 提供5道招牌菜的BOM配方数据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所有过程数据可追溯 — case_story_generator 自动生成案例报告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